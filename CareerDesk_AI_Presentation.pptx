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457200"/>
            <a:ext cx="2377440" cy="2377440"/>
          </a:xfrm>
          <a:prstGeom prst="ellipse">
            <a:avLst/>
          </a:prstGeom>
          <a:solidFill>
            <a:srgbClr val="0F62F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CELL AUTOMATION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CareerDesk AI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IBM watsonx Assistant Chatbot for Training &amp; Placement Coordination (TPC) Queries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2743200" cy="0"/>
          </a:xfrm>
          <a:prstGeom prst="line">
            <a:avLst/>
          </a:prstGeom>
          <a:noFill/>
          <a:ln w="31750">
            <a:solidFill>
              <a:srgbClr val="0F6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Satyam Khokhar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Gulshan Jha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Utkarsh Dwivedi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 Singh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6080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 University  |  Built on IBM watsonx Assistant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47672"/>
            <a:ext cx="457200" cy="45720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892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Queries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Cell staff spend hours daily answering the same questions on offer letters, eligibility, and documents.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947672"/>
            <a:ext cx="457200" cy="45720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86600" y="1892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Responses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4688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wait days for email or in-person replies during high-traffic placement seasons.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187952"/>
            <a:ext cx="457200" cy="45720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41330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24/7 Access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70916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information is only available during office hours, leaving students without support after hours.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187952"/>
            <a:ext cx="457200" cy="45720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41330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Information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470916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on debarment, fines, and On-the-Job Training (OJT) are spread across notices and word-of-mouth.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CareerDesk AI  |  Training &amp; Placement Coordination Chatbot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160520"/>
          </a:xfrm>
          <a:prstGeom prst="roundRect">
            <a:avLst>
              <a:gd name="adj" fmla="val 2198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always-available virtual assistant that resolves common Training &amp; Placement queries instantly — freeing staff time and giving students self-service answers.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4069080"/>
            <a:ext cx="4206240" cy="0"/>
          </a:xfrm>
          <a:prstGeom prst="line">
            <a:avLst/>
          </a:prstGeom>
          <a:noFill/>
          <a:ln w="12700">
            <a:solidFill>
              <a:srgbClr val="2A44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2976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IBM watsonx Assistant Lite, with a rule-based intent and entity model tailored to LPU's Training &amp; Placement Cell.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783080"/>
            <a:ext cx="384048" cy="384048"/>
          </a:xfrm>
          <a:prstGeom prst="ellipse">
            <a:avLst/>
          </a:prstGeom>
          <a:solidFill>
            <a:srgbClr val="12B0A0"/>
          </a:solidFill>
          <a:ln/>
        </p:spPr>
      </p:sp>
      <p:sp>
        <p:nvSpPr>
          <p:cNvPr id="10" name="Text 8"/>
          <p:cNvSpPr/>
          <p:nvPr/>
        </p:nvSpPr>
        <p:spPr>
          <a:xfrm>
            <a:off x="608076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92" dirty="0"/>
          </a:p>
        </p:txBody>
      </p:sp>
      <p:sp>
        <p:nvSpPr>
          <p:cNvPr id="11" name="Text 9"/>
          <p:cNvSpPr/>
          <p:nvPr/>
        </p:nvSpPr>
        <p:spPr>
          <a:xfrm>
            <a:off x="6629400" y="1728216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instant, 24/7 answers on offer letters, eligibility, documents &amp; fines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80760" y="2807208"/>
            <a:ext cx="384048" cy="384048"/>
          </a:xfrm>
          <a:prstGeom prst="ellipse">
            <a:avLst/>
          </a:prstGeom>
          <a:solidFill>
            <a:srgbClr val="12B0A0"/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92" dirty="0"/>
          </a:p>
        </p:txBody>
      </p:sp>
      <p:sp>
        <p:nvSpPr>
          <p:cNvPr id="14" name="Text 12"/>
          <p:cNvSpPr/>
          <p:nvPr/>
        </p:nvSpPr>
        <p:spPr>
          <a:xfrm>
            <a:off x="6629400" y="2752344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repetitive workload on Placement Cell coordinators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080760" y="3831336"/>
            <a:ext cx="384048" cy="384048"/>
          </a:xfrm>
          <a:prstGeom prst="ellipse">
            <a:avLst/>
          </a:prstGeom>
          <a:solidFill>
            <a:srgbClr val="12B0A0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92" dirty="0"/>
          </a:p>
        </p:txBody>
      </p:sp>
      <p:sp>
        <p:nvSpPr>
          <p:cNvPr id="17" name="Text 15"/>
          <p:cNvSpPr/>
          <p:nvPr/>
        </p:nvSpPr>
        <p:spPr>
          <a:xfrm>
            <a:off x="6629400" y="377647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consistent, accurate information to every student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080760" y="4855464"/>
            <a:ext cx="384048" cy="384048"/>
          </a:xfrm>
          <a:prstGeom prst="ellipse">
            <a:avLst/>
          </a:prstGeom>
          <a:solidFill>
            <a:srgbClr val="12B0A0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4855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92" dirty="0"/>
          </a:p>
        </p:txBody>
      </p:sp>
      <p:sp>
        <p:nvSpPr>
          <p:cNvPr id="20" name="Text 18"/>
          <p:cNvSpPr/>
          <p:nvPr/>
        </p:nvSpPr>
        <p:spPr>
          <a:xfrm>
            <a:off x="6629400" y="48006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scalable framework that can grow with new placement policies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CareerDesk AI  |  Training &amp; Placement Coordination Chatbot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CareerDesk AI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student helpdesk that provides quick guidance for Training &amp; Placement Coordination queries.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31720"/>
            <a:ext cx="2148840" cy="3017520"/>
          </a:xfrm>
          <a:prstGeom prst="roundRect">
            <a:avLst>
              <a:gd name="adj" fmla="val 2553"/>
            </a:avLst>
          </a:prstGeom>
          <a:solidFill>
            <a:srgbClr val="EAF1FF"/>
          </a:solidFill>
          <a:ln/>
        </p:spPr>
      </p:sp>
      <p:sp>
        <p:nvSpPr>
          <p:cNvPr id="7" name="Shape 5"/>
          <p:cNvSpPr/>
          <p:nvPr/>
        </p:nvSpPr>
        <p:spPr>
          <a:xfrm>
            <a:off x="1623060" y="2606040"/>
            <a:ext cx="640080" cy="64008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8" name="Text 6"/>
          <p:cNvSpPr/>
          <p:nvPr/>
        </p:nvSpPr>
        <p:spPr>
          <a:xfrm>
            <a:off x="162306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Answers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9 categories of TPC queries in seconds, any time of day.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0" y="20574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03320" y="2331720"/>
            <a:ext cx="2148840" cy="3017520"/>
          </a:xfrm>
          <a:prstGeom prst="roundRect">
            <a:avLst>
              <a:gd name="adj" fmla="val 2553"/>
            </a:avLst>
          </a:prstGeom>
          <a:solidFill>
            <a:srgbClr val="E7F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457700" y="2606040"/>
            <a:ext cx="640080" cy="640080"/>
          </a:xfrm>
          <a:prstGeom prst="ellipse">
            <a:avLst/>
          </a:prstGeom>
          <a:solidFill>
            <a:srgbClr val="12B0A0"/>
          </a:solidFill>
          <a:ln/>
        </p:spPr>
      </p:sp>
      <p:sp>
        <p:nvSpPr>
          <p:cNvPr id="14" name="Text 12"/>
          <p:cNvSpPr/>
          <p:nvPr/>
        </p:nvSpPr>
        <p:spPr>
          <a:xfrm>
            <a:off x="445770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3703320" y="3474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UI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749040" y="397764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chat widget embeddable directly on the college placement portal.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20574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7960" y="2331720"/>
            <a:ext cx="2148840" cy="3017520"/>
          </a:xfrm>
          <a:prstGeom prst="roundRect">
            <a:avLst>
              <a:gd name="adj" fmla="val 2553"/>
            </a:avLst>
          </a:prstGeom>
          <a:solidFill>
            <a:srgbClr val="EAF1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292340" y="2606040"/>
            <a:ext cx="640080" cy="64008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20" name="Text 18"/>
          <p:cNvSpPr/>
          <p:nvPr/>
        </p:nvSpPr>
        <p:spPr>
          <a:xfrm>
            <a:off x="729234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20" dirty="0"/>
          </a:p>
        </p:txBody>
      </p:sp>
      <p:sp>
        <p:nvSpPr>
          <p:cNvPr id="21" name="Text 19"/>
          <p:cNvSpPr/>
          <p:nvPr/>
        </p:nvSpPr>
        <p:spPr>
          <a:xfrm>
            <a:off x="6537960" y="3474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Recognition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83680" y="397764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varied phrasing using trained intents and entities.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0" y="20574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72600" y="2331720"/>
            <a:ext cx="2148840" cy="3017520"/>
          </a:xfrm>
          <a:prstGeom prst="roundRect">
            <a:avLst>
              <a:gd name="adj" fmla="val 2553"/>
            </a:avLst>
          </a:prstGeom>
          <a:solidFill>
            <a:srgbClr val="E7F8F5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26980" y="2606040"/>
            <a:ext cx="640080" cy="640080"/>
          </a:xfrm>
          <a:prstGeom prst="ellipse">
            <a:avLst/>
          </a:prstGeom>
          <a:solidFill>
            <a:srgbClr val="12B0A0"/>
          </a:solidFill>
          <a:ln/>
        </p:spPr>
      </p:sp>
      <p:sp>
        <p:nvSpPr>
          <p:cNvPr id="26" name="Text 24"/>
          <p:cNvSpPr/>
          <p:nvPr/>
        </p:nvSpPr>
        <p:spPr>
          <a:xfrm>
            <a:off x="1012698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20" dirty="0"/>
          </a:p>
        </p:txBody>
      </p:sp>
      <p:sp>
        <p:nvSpPr>
          <p:cNvPr id="27" name="Text 25"/>
          <p:cNvSpPr/>
          <p:nvPr/>
        </p:nvSpPr>
        <p:spPr>
          <a:xfrm>
            <a:off x="9372600" y="3474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Consistent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418320" y="397764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receives the same accurate, up-to-date guidance.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CareerDesk AI  |  Training &amp; Placement Coordination Chatbot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4160520"/>
          </a:xfrm>
          <a:prstGeom prst="roundRect">
            <a:avLst>
              <a:gd name="adj" fmla="val 2198"/>
            </a:avLst>
          </a:prstGeom>
          <a:solidFill>
            <a:srgbClr val="132A4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 Assistant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 Plan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88720" y="2788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conversational AI platform by IBM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3558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88720" y="33558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/ low-code visual dialog builder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392277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88720" y="39227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NLU for intent &amp; entity recognition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44897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88720" y="44897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via embeddable web chat widget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89320" y="1783080"/>
            <a:ext cx="5577840" cy="868680"/>
          </a:xfrm>
          <a:prstGeom prst="roundRect">
            <a:avLst>
              <a:gd name="adj" fmla="val 7368"/>
            </a:avLst>
          </a:prstGeom>
          <a:solidFill>
            <a:srgbClr val="132A4D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984248"/>
            <a:ext cx="457200" cy="45720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Assistant Builder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22219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creation, naming &amp; configuration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89320" y="2807208"/>
            <a:ext cx="5577840" cy="868680"/>
          </a:xfrm>
          <a:prstGeom prst="roundRect">
            <a:avLst>
              <a:gd name="adj" fmla="val 7368"/>
            </a:avLst>
          </a:prstGeom>
          <a:solidFill>
            <a:srgbClr val="132A4D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008376"/>
            <a:ext cx="457200" cy="45720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2898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Editor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conversation flows with conditions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89320" y="3831336"/>
            <a:ext cx="5577840" cy="868680"/>
          </a:xfrm>
          <a:prstGeom prst="roundRect">
            <a:avLst>
              <a:gd name="adj" fmla="val 7368"/>
            </a:avLst>
          </a:prstGeom>
          <a:solidFill>
            <a:srgbClr val="132A4D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032504"/>
            <a:ext cx="457200" cy="45720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39227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 &amp; Entities Engine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4270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intents, custom @company entity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89320" y="4855464"/>
            <a:ext cx="5577840" cy="868680"/>
          </a:xfrm>
          <a:prstGeom prst="roundRect">
            <a:avLst>
              <a:gd name="adj" fmla="val 7368"/>
            </a:avLst>
          </a:prstGeom>
          <a:solidFill>
            <a:srgbClr val="132A4D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5056632"/>
            <a:ext cx="457200" cy="45720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0" y="49469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 Integration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0" y="52943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Customizable, brand-styled embeddable widget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CareerDesk AI  |  Training &amp; Placement Coordination Chatbot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F62F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1912" y="1993392"/>
            <a:ext cx="585216" cy="5852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1581912" y="1993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64" dirty="0"/>
          </a:p>
        </p:txBody>
      </p:sp>
      <p:sp>
        <p:nvSpPr>
          <p:cNvPr id="7" name="Text 5"/>
          <p:cNvSpPr/>
          <p:nvPr/>
        </p:nvSpPr>
        <p:spPr>
          <a:xfrm>
            <a:off x="777240" y="26700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Query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question in the web chat widget.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27248" y="28803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93008" y="228600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F62F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993392"/>
            <a:ext cx="585216" cy="5852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993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64" dirty="0"/>
          </a:p>
        </p:txBody>
      </p:sp>
      <p:sp>
        <p:nvSpPr>
          <p:cNvPr id="13" name="Text 11"/>
          <p:cNvSpPr/>
          <p:nvPr/>
        </p:nvSpPr>
        <p:spPr>
          <a:xfrm>
            <a:off x="3630168" y="26700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Processing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75888" y="3154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matches text to a trained intent using NLU.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0176" y="28803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345936" y="228600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F62F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87768" y="1993392"/>
            <a:ext cx="585216" cy="5852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7287768" y="1993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64" dirty="0"/>
          </a:p>
        </p:txBody>
      </p:sp>
      <p:sp>
        <p:nvSpPr>
          <p:cNvPr id="19" name="Text 17"/>
          <p:cNvSpPr/>
          <p:nvPr/>
        </p:nvSpPr>
        <p:spPr>
          <a:xfrm>
            <a:off x="6483096" y="26700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Node Logic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28816" y="3154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matched dialog node applies conditions &amp; entities.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33104" y="28803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198864" y="228600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F62F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40696" y="1993392"/>
            <a:ext cx="585216" cy="5852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4" name="Text 22"/>
          <p:cNvSpPr/>
          <p:nvPr/>
        </p:nvSpPr>
        <p:spPr>
          <a:xfrm>
            <a:off x="10140696" y="1993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64" dirty="0"/>
          </a:p>
        </p:txBody>
      </p:sp>
      <p:sp>
        <p:nvSpPr>
          <p:cNvPr id="25" name="Text 23"/>
          <p:cNvSpPr/>
          <p:nvPr/>
        </p:nvSpPr>
        <p:spPr>
          <a:xfrm>
            <a:off x="9336024" y="26700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Response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381744" y="3154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returns the pre-configured answer to the student.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709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components inside Watson Assistant: Default Behavior  •  Conversational Search  •  Actions &amp; Dialog  •  Search Integration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3492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AF1FF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Handling: If no intent matches, the “Anything Else” node guides the student toward supported topics such as offer letters, eligibility, and documents.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CareerDesk AI  |  Training &amp; Placement Coordination Chatbot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Core Intents Covered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intent is trained with multiple real student phrasings to reliably capture user intent.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63500" dist="12700" dir="5400000">
              <a:srgbClr val="9AA7BD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65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62F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53312" y="19385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#Offer_letter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23957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Receiving, accessing or verifying offer letters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0" y="19385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ex.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182880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63500" dist="12700" dir="5400000">
              <a:srgbClr val="9AA7BD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965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62FE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56632" y="19385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#eligibility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80560" y="23957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requirements for placement drives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86600" y="19385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ex.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46720" y="182880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63500" dist="12700" dir="5400000">
              <a:srgbClr val="9AA7BD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83880" y="1965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62FE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759952" y="19385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#documents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183880" y="23957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required during the placement process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789920" y="19385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3227832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63500" dist="12700" dir="5400000">
              <a:srgbClr val="9AA7BD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33649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62F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353312" y="33375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#Joining_date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77240" y="37947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about placement joining dates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83280" y="33375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ex.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43400" y="3227832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63500" dist="12700" dir="5400000">
              <a:srgbClr val="9AA7BD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80560" y="33649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62FE"/>
          </a:solidFill>
          <a:ln/>
        </p:spPr>
      </p:sp>
      <p:sp>
        <p:nvSpPr>
          <p:cNvPr id="31" name="Text 29"/>
          <p:cNvSpPr/>
          <p:nvPr/>
        </p:nvSpPr>
        <p:spPr>
          <a:xfrm>
            <a:off x="448056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056632" y="33375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#company_registration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480560" y="37947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Registering or applying to companies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086600" y="33375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46720" y="3227832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63500" dist="12700" dir="5400000">
              <a:srgbClr val="9AA7BD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183880" y="33649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62FE"/>
          </a:solidFill>
          <a:ln/>
        </p:spPr>
      </p:sp>
      <p:sp>
        <p:nvSpPr>
          <p:cNvPr id="37" name="Text 35"/>
          <p:cNvSpPr/>
          <p:nvPr/>
        </p:nvSpPr>
        <p:spPr>
          <a:xfrm>
            <a:off x="818388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759952" y="33375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#application_issue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183880" y="37947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or procedural application issues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789920" y="33375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ex.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0080" y="4626864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63500" dist="12700" dir="5400000">
              <a:srgbClr val="9AA7BD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77240" y="476402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62FE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353312" y="47365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#debarment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777240" y="51937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debarred, listed or restricted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383280" y="473659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343400" y="4626864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63500" dist="12700" dir="5400000">
              <a:srgbClr val="9AA7BD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480560" y="476402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62FE"/>
          </a:solidFill>
          <a:ln/>
        </p:spPr>
      </p:sp>
      <p:sp>
        <p:nvSpPr>
          <p:cNvPr id="49" name="Text 47"/>
          <p:cNvSpPr/>
          <p:nvPr/>
        </p:nvSpPr>
        <p:spPr>
          <a:xfrm>
            <a:off x="448056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056632" y="47365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#ogt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4480560" y="51937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On-Job Training (OGT) related queries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086600" y="473659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046720" y="4626864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63500" dist="12700" dir="5400000">
              <a:srgbClr val="9AA7BD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183880" y="476402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62FE"/>
          </a:solidFill>
          <a:ln/>
        </p:spPr>
      </p:sp>
      <p:sp>
        <p:nvSpPr>
          <p:cNvPr id="55" name="Text 53"/>
          <p:cNvSpPr/>
          <p:nvPr/>
        </p:nvSpPr>
        <p:spPr>
          <a:xfrm>
            <a:off x="818388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8759952" y="47365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#placement_fine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8183880" y="51937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 or consequences related to placements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0789920" y="473659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ex.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CareerDesk AI  |  Training &amp; Placement Coordination Chatbot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LANGUAGE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Entities &amp; NLU Recognition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Entity?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are the nouns/keywords in a message — they let the assistant extract specific business terms from what a student types, rather than just matching a general topic.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520440"/>
            <a:ext cx="4480560" cy="0"/>
          </a:xfrm>
          <a:prstGeom prst="line">
            <a:avLst/>
          </a:prstGeom>
          <a:noFill/>
          <a:ln w="12700">
            <a:solidFill>
              <a:srgbClr val="DC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@company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entity built for CareerDesk AI to recognize recruiter names mentioned in student queries: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470916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7091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84832" y="470916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4832" y="47091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55264" y="470916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47091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25696" y="470916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25696" y="47091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691640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Intents  +  1 Entity  =  Complete Coverage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5080" y="23774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intents and entities let CareerDesk AI understand both the topic and the specific detail of a student's question.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3154680"/>
            <a:ext cx="4572000" cy="0"/>
          </a:xfrm>
          <a:prstGeom prst="line">
            <a:avLst/>
          </a:prstGeom>
          <a:noFill/>
          <a:ln w="12700">
            <a:solidFill>
              <a:srgbClr val="2A44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Interaction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3611880"/>
            <a:ext cx="4846320" cy="640080"/>
          </a:xfrm>
          <a:prstGeom prst="roundRect">
            <a:avLst>
              <a:gd name="adj" fmla="val 50000"/>
            </a:avLst>
          </a:prstGeom>
          <a:solidFill>
            <a:srgbClr val="132A4D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36118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“Has Infosys registered for placements yet?”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55080" y="4434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matched: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818120" y="4434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#company_registration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55080" y="4800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matched: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818120" y="4800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@company : Infosys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CareerDesk AI  |  Training &amp; Placement Coordination Chatbot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Dialog Flow Design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visually in Watson's dialog editor using branching nodes tied to intents and conditions.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375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4028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Greets the student and introduces CareerDesk AI's capabilities.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95928" y="333756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97680" y="1965960"/>
            <a:ext cx="3337560" cy="3200400"/>
          </a:xfrm>
          <a:prstGeom prst="roundRect">
            <a:avLst>
              <a:gd name="adj" fmla="val 2286"/>
            </a:avLst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22402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4572000" y="29260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Nodes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347472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5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dedicated nodes — Offer Letter, Eligibility, Documents, OGT, Fines &amp; more.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653528" y="333756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955280" y="1965960"/>
            <a:ext cx="33375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224028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8229600" y="29260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 (Fallback)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29600" y="347472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unmatched input and lists supported topics for the student.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responses are varied (“I didn’t understand...”, “Can you reword your statement?”) to feel natural rather than robotic.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CareerDesk AI  |  Training &amp; Placement Coordination Chatbot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CareerDesk Chat Widget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13161A"/>
          </a:solidFill>
          <a:ln w="12700">
            <a:solidFill>
              <a:srgbClr val="2A44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3383280" cy="640080"/>
          </a:xfrm>
          <a:prstGeom prst="roundRect">
            <a:avLst>
              <a:gd name="adj" fmla="val 17143"/>
            </a:avLst>
          </a:prstGeom>
          <a:solidFill>
            <a:srgbClr val="13161A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CareerDesk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1801368"/>
            <a:ext cx="420624" cy="420624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560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Hi! I’m a virtual assistant.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I help you today?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51560" y="352044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1E2229"/>
          </a:solidFill>
          <a:ln w="12700">
            <a:solidFill>
              <a:srgbClr val="3439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520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 not received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51560" y="4142232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1E2229"/>
          </a:solidFill>
          <a:ln w="12700">
            <a:solidFill>
              <a:srgbClr val="3439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41422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my eligibility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51560" y="4764024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1E2229"/>
          </a:solidFill>
          <a:ln w="12700">
            <a:solidFill>
              <a:srgbClr val="3439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47640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OGT process details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05840" y="5577840"/>
            <a:ext cx="3017520" cy="411480"/>
          </a:xfrm>
          <a:prstGeom prst="roundRect">
            <a:avLst>
              <a:gd name="adj" fmla="val 48889"/>
            </a:avLst>
          </a:prstGeom>
          <a:solidFill>
            <a:srgbClr val="1E2229"/>
          </a:solidFill>
          <a:ln w="12700">
            <a:solidFill>
              <a:srgbClr val="3439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5577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something...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783080"/>
            <a:ext cx="457200" cy="457200"/>
          </a:xfrm>
          <a:prstGeom prst="ellipse">
            <a:avLst/>
          </a:prstGeom>
          <a:solidFill>
            <a:srgbClr val="12B0A0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17556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Customization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349240" y="214884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name, dark theme, robot avatar, and accent color (#0354E9) matching the placement cell brand.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457200" cy="457200"/>
          </a:xfrm>
          <a:prstGeom prst="ellipse">
            <a:avLst/>
          </a:prstGeom>
          <a:solidFill>
            <a:srgbClr val="12B0A0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28986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Watson's Preview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5349240" y="329184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and tested live using watsonx Assistant's built-in Web Chat customization panel.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09160" y="4069080"/>
            <a:ext cx="457200" cy="457200"/>
          </a:xfrm>
          <a:prstGeom prst="ellipse">
            <a:avLst/>
          </a:prstGeom>
          <a:solidFill>
            <a:srgbClr val="12B0A0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40416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Embeddable Anywhere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5349240" y="443484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embed snippet deploys the assistant directly onto the college placement portal.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709160" y="525780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132A4D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52578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Students get a familiar, chat-style experience — no training required to ask a question and get an instant answer.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CareerDesk AI  |  Training &amp; Placement Coordination Chatbot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Benefits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470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5420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5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for student queries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56432" y="173736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0F62FE"/>
          </a:solidFill>
          <a:ln/>
        </p:spPr>
      </p:sp>
      <p:sp>
        <p:nvSpPr>
          <p:cNvPr id="8" name="Text 6"/>
          <p:cNvSpPr/>
          <p:nvPr/>
        </p:nvSpPr>
        <p:spPr>
          <a:xfrm>
            <a:off x="3593592" y="18470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93592" y="25420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5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categories automated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2784" y="173736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6409944" y="18470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 sec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09944" y="25420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5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response 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89136" y="173736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0F62FE"/>
          </a:solidFill>
          <a:ln/>
        </p:spPr>
      </p:sp>
      <p:sp>
        <p:nvSpPr>
          <p:cNvPr id="14" name="Text 12"/>
          <p:cNvSpPr/>
          <p:nvPr/>
        </p:nvSpPr>
        <p:spPr>
          <a:xfrm>
            <a:off x="9226296" y="18470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226296" y="25420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5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 compared to email/desk visits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34290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657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B0A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2519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68680" y="4636008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clarity on offer letters, eligibility, documents, and fines — without waiting in queue or for email replies.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25112" y="3429000"/>
            <a:ext cx="34290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53712" y="3657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B0A0"/>
          </a:solidFill>
          <a:ln/>
        </p:spPr>
      </p:sp>
      <p:sp>
        <p:nvSpPr>
          <p:cNvPr id="23" name="Text 21"/>
          <p:cNvSpPr/>
          <p:nvPr/>
        </p:nvSpPr>
        <p:spPr>
          <a:xfrm>
            <a:off x="4553712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53712" y="42519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Placement Cell Staff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553712" y="4636008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repetitive queries land in their inbox, freeing time for high-value coordination work.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10144" y="3429000"/>
            <a:ext cx="34290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38744" y="3657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B0A0"/>
          </a:solidFill>
          <a:ln/>
        </p:spPr>
      </p:sp>
      <p:sp>
        <p:nvSpPr>
          <p:cNvPr id="28" name="Text 26"/>
          <p:cNvSpPr/>
          <p:nvPr/>
        </p:nvSpPr>
        <p:spPr>
          <a:xfrm>
            <a:off x="8238744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38744" y="42519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Institution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8238744" y="4636008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scalable digital touchpoint that reflects well on the placement process.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CareerDesk AI  |  Training &amp; Placement Coordination Chatbot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046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84048" cy="384048"/>
          </a:xfrm>
          <a:prstGeom prst="ellipse">
            <a:avLst/>
          </a:prstGeom>
          <a:solidFill>
            <a:srgbClr val="12B0A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92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live placement databases for real-time status updates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313432"/>
            <a:ext cx="384048" cy="384048"/>
          </a:xfrm>
          <a:prstGeom prst="ellipse">
            <a:avLst/>
          </a:prstGeom>
          <a:solidFill>
            <a:srgbClr val="12B0A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92" dirty="0"/>
          </a:p>
        </p:txBody>
      </p:sp>
      <p:sp>
        <p:nvSpPr>
          <p:cNvPr id="11" name="Text 9"/>
          <p:cNvSpPr/>
          <p:nvPr/>
        </p:nvSpPr>
        <p:spPr>
          <a:xfrm>
            <a:off x="1188720" y="226771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multilingual support for a broader student base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026664"/>
            <a:ext cx="384048" cy="384048"/>
          </a:xfrm>
          <a:prstGeom prst="ellipse">
            <a:avLst/>
          </a:prstGeom>
          <a:solidFill>
            <a:srgbClr val="12B0A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92" dirty="0"/>
          </a:p>
        </p:txBody>
      </p:sp>
      <p:sp>
        <p:nvSpPr>
          <p:cNvPr id="14" name="Text 12"/>
          <p:cNvSpPr/>
          <p:nvPr/>
        </p:nvSpPr>
        <p:spPr>
          <a:xfrm>
            <a:off x="1188720" y="2980944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live-agent handoff for complex, unresolved queries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39896"/>
            <a:ext cx="384048" cy="384048"/>
          </a:xfrm>
          <a:prstGeom prst="ellipse">
            <a:avLst/>
          </a:prstGeom>
          <a:solidFill>
            <a:srgbClr val="12B0A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92" dirty="0"/>
          </a:p>
        </p:txBody>
      </p:sp>
      <p:sp>
        <p:nvSpPr>
          <p:cNvPr id="17" name="Text 15"/>
          <p:cNvSpPr/>
          <p:nvPr/>
        </p:nvSpPr>
        <p:spPr>
          <a:xfrm>
            <a:off x="1188720" y="369417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generative AI search for open-ended placement questions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617720"/>
            <a:ext cx="5486400" cy="0"/>
          </a:xfrm>
          <a:prstGeom prst="line">
            <a:avLst/>
          </a:prstGeom>
          <a:noFill/>
          <a:ln w="12700">
            <a:solidFill>
              <a:srgbClr val="2A44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8463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40080" y="5532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75120" y="1600200"/>
            <a:ext cx="4846320" cy="4480560"/>
          </a:xfrm>
          <a:prstGeom prst="roundRect">
            <a:avLst>
              <a:gd name="adj" fmla="val 2041"/>
            </a:avLst>
          </a:prstGeom>
          <a:solidFill>
            <a:srgbClr val="132A4D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2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995160" y="2377440"/>
            <a:ext cx="502920" cy="50292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35240" y="23957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Satyam Khokhar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95160" y="3154680"/>
            <a:ext cx="502920" cy="50292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35240" y="31729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Gulshan Jha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995160" y="3931920"/>
            <a:ext cx="502920" cy="50292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30" name="Text 28"/>
          <p:cNvSpPr/>
          <p:nvPr/>
        </p:nvSpPr>
        <p:spPr>
          <a:xfrm>
            <a:off x="699516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35240" y="39502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Utkarsh Dwivedi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995160" y="4709160"/>
            <a:ext cx="502920" cy="502920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33" name="Text 31"/>
          <p:cNvSpPr/>
          <p:nvPr/>
        </p:nvSpPr>
        <p:spPr>
          <a:xfrm>
            <a:off x="699516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635240" y="4727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 Singh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995160" y="5532120"/>
            <a:ext cx="4206240" cy="0"/>
          </a:xfrm>
          <a:prstGeom prst="line">
            <a:avLst/>
          </a:prstGeom>
          <a:noFill/>
          <a:ln w="12700">
            <a:solidFill>
              <a:srgbClr val="2A44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5160" y="5715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 University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95160" y="60533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CareerDesk AI — IBM watsonx Assistant Chatbot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CareerDesk AI  |  Training &amp; Placement Coordination Chatbot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2026-09-05T04:33:49Z</dcterms:created>
  <dcterms:modified xsi:type="dcterms:W3CDTF">2026-09-05T04:33:49Z</dcterms:modified>
</cp:coreProperties>
</file>